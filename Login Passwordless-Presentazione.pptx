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A84F1-C217-4F46-ACA5-764AF7EBF58B}" type="datetimeFigureOut">
              <a:rPr lang="it-IT" smtClean="0"/>
              <a:t>13/07/2025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43E4B-DD6B-433E-9B9B-4A6F04CD7F96}" type="slidenum">
              <a:rPr lang="it-IT" smtClean="0"/>
              <a:t>‹N›</a:t>
            </a:fld>
            <a:endParaRPr lang="it-I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5232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A84F1-C217-4F46-ACA5-764AF7EBF58B}" type="datetimeFigureOut">
              <a:rPr lang="it-IT" smtClean="0"/>
              <a:t>13/07/2025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43E4B-DD6B-433E-9B9B-4A6F04CD7F9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77708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A84F1-C217-4F46-ACA5-764AF7EBF58B}" type="datetimeFigureOut">
              <a:rPr lang="it-IT" smtClean="0"/>
              <a:t>13/07/2025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43E4B-DD6B-433E-9B9B-4A6F04CD7F96}" type="slidenum">
              <a:rPr lang="it-IT" smtClean="0"/>
              <a:t>‹N›</a:t>
            </a:fld>
            <a:endParaRPr lang="it-I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0399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A84F1-C217-4F46-ACA5-764AF7EBF58B}" type="datetimeFigureOut">
              <a:rPr lang="it-IT" smtClean="0"/>
              <a:t>13/07/2025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43E4B-DD6B-433E-9B9B-4A6F04CD7F9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118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A84F1-C217-4F46-ACA5-764AF7EBF58B}" type="datetimeFigureOut">
              <a:rPr lang="it-IT" smtClean="0"/>
              <a:t>13/07/2025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43E4B-DD6B-433E-9B9B-4A6F04CD7F9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3720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A84F1-C217-4F46-ACA5-764AF7EBF58B}" type="datetimeFigureOut">
              <a:rPr lang="it-IT" smtClean="0"/>
              <a:t>13/07/2025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43E4B-DD6B-433E-9B9B-4A6F04CD7F9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858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A84F1-C217-4F46-ACA5-764AF7EBF58B}" type="datetimeFigureOut">
              <a:rPr lang="it-IT" smtClean="0"/>
              <a:t>13/07/2025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43E4B-DD6B-433E-9B9B-4A6F04CD7F9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39993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B0A84F1-C217-4F46-ACA5-764AF7EBF58B}" type="datetimeFigureOut">
              <a:rPr lang="it-IT" smtClean="0"/>
              <a:t>13/07/2025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343E4B-DD6B-433E-9B9B-4A6F04CD7F9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0537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A84F1-C217-4F46-ACA5-764AF7EBF58B}" type="datetimeFigureOut">
              <a:rPr lang="it-IT" smtClean="0"/>
              <a:t>13/07/2025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43E4B-DD6B-433E-9B9B-4A6F04CD7F9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99319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A84F1-C217-4F46-ACA5-764AF7EBF58B}" type="datetimeFigureOut">
              <a:rPr lang="it-IT" smtClean="0"/>
              <a:t>13/07/2025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43E4B-DD6B-433E-9B9B-4A6F04CD7F9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8261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A84F1-C217-4F46-ACA5-764AF7EBF58B}" type="datetimeFigureOut">
              <a:rPr lang="it-IT" smtClean="0"/>
              <a:t>13/07/2025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43E4B-DD6B-433E-9B9B-4A6F04CD7F9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9580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B0A84F1-C217-4F46-ACA5-764AF7EBF58B}" type="datetimeFigureOut">
              <a:rPr lang="it-IT" smtClean="0"/>
              <a:t>13/07/2025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3343E4B-DD6B-433E-9B9B-4A6F04CD7F96}" type="slidenum">
              <a:rPr lang="it-IT" smtClean="0"/>
              <a:t>‹N›</a:t>
            </a:fld>
            <a:endParaRPr lang="it-IT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047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083A3F-E5FC-7595-01C4-82DD825F0C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694109"/>
            <a:ext cx="10058400" cy="1416542"/>
          </a:xfrm>
        </p:spPr>
        <p:txBody>
          <a:bodyPr/>
          <a:lstStyle/>
          <a:p>
            <a:pPr algn="ctr"/>
            <a:r>
              <a:rPr lang="it-IT" b="1" dirty="0"/>
              <a:t>Login Passwordless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87E58C6-ADDD-F817-3AE5-7BECE983F7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it-IT" b="1" dirty="0">
                <a:latin typeface="Aptos" panose="020B0004020202020204" pitchFamily="34" charset="0"/>
                <a:cs typeface="Arial" panose="020B0604020202020204" pitchFamily="34" charset="0"/>
              </a:rPr>
              <a:t>Progetto Sicurezza dell’informazione M</a:t>
            </a:r>
            <a:endParaRPr lang="it-IT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it-IT" dirty="0">
                <a:latin typeface="Aptos" panose="020B0004020202020204" pitchFamily="34" charset="0"/>
                <a:cs typeface="Arial" panose="020B0604020202020204" pitchFamily="34" charset="0"/>
              </a:rPr>
              <a:t>Andriy </a:t>
            </a:r>
            <a:r>
              <a:rPr lang="it-IT" dirty="0" err="1">
                <a:latin typeface="Aptos" panose="020B0004020202020204" pitchFamily="34" charset="0"/>
                <a:cs typeface="Arial" panose="020B0604020202020204" pitchFamily="34" charset="0"/>
              </a:rPr>
              <a:t>hrynda</a:t>
            </a:r>
            <a:r>
              <a:rPr lang="it-IT" dirty="0">
                <a:latin typeface="Aptos" panose="020B0004020202020204" pitchFamily="34" charset="0"/>
                <a:cs typeface="Arial" panose="020B0604020202020204" pitchFamily="34" charset="0"/>
              </a:rPr>
              <a:t>                                              Matricola: 0001196695</a:t>
            </a:r>
          </a:p>
        </p:txBody>
      </p:sp>
    </p:spTree>
    <p:extLst>
      <p:ext uri="{BB962C8B-B14F-4D97-AF65-F5344CB8AC3E}">
        <p14:creationId xmlns:p14="http://schemas.microsoft.com/office/powerpoint/2010/main" val="1792504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B9FBD8-6980-7BB6-D538-F260C13B5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Magic Link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C2135A5-053B-0D43-10BC-07D974E61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Autofit/>
          </a:bodyPr>
          <a:lstStyle/>
          <a:p>
            <a:pPr lvl="0"/>
            <a:r>
              <a:rPr lang="it-IT" dirty="0">
                <a:latin typeface="Aptos" panose="020B0004020202020204" pitchFamily="34" charset="0"/>
              </a:rPr>
              <a:t>Il protocollo prevede i seguenti passi:</a:t>
            </a:r>
          </a:p>
          <a:p>
            <a:pPr marL="0" lvl="0" indent="0">
              <a:buNone/>
            </a:pPr>
            <a:r>
              <a:rPr lang="it-IT" dirty="0">
                <a:latin typeface="Aptos" panose="020B0004020202020204" pitchFamily="34" charset="0"/>
              </a:rPr>
              <a:t>- Il client richiede di ricevere il link di accesso dopo aver inserito la propria e-mail.</a:t>
            </a:r>
          </a:p>
          <a:p>
            <a:pPr marL="0" lvl="0" indent="0">
              <a:buNone/>
            </a:pPr>
            <a:r>
              <a:rPr lang="it-IT" dirty="0">
                <a:latin typeface="Aptos" panose="020B0004020202020204" pitchFamily="34" charset="0"/>
              </a:rPr>
              <a:t>- Il server:</a:t>
            </a:r>
          </a:p>
          <a:p>
            <a:pPr lvl="1"/>
            <a:r>
              <a:rPr lang="it-IT" sz="2000" dirty="0">
                <a:latin typeface="Aptos" panose="020B0004020202020204" pitchFamily="34" charset="0"/>
              </a:rPr>
              <a:t>Genera tramite un PRNG sicuro il token e calcola il suo hash.</a:t>
            </a:r>
          </a:p>
          <a:p>
            <a:pPr lvl="1"/>
            <a:r>
              <a:rPr lang="it-IT" sz="2000" dirty="0">
                <a:latin typeface="Aptos" panose="020B0004020202020204" pitchFamily="34" charset="0"/>
              </a:rPr>
              <a:t>Elimina dal DB i record associati alla stessa mail.</a:t>
            </a:r>
          </a:p>
          <a:p>
            <a:pPr lvl="1"/>
            <a:r>
              <a:rPr lang="it-IT" sz="2000" dirty="0">
                <a:latin typeface="Aptos" panose="020B0004020202020204" pitchFamily="34" charset="0"/>
              </a:rPr>
              <a:t>Salva nel DB la tupla contenente: la e-mail, l’hash del token e la sua data di scadenza.</a:t>
            </a:r>
          </a:p>
          <a:p>
            <a:pPr lvl="1"/>
            <a:r>
              <a:rPr lang="it-IT" sz="2000" dirty="0">
                <a:latin typeface="Aptos" panose="020B0004020202020204" pitchFamily="34" charset="0"/>
              </a:rPr>
              <a:t>Crea il link contenente il token e lo invia tramite mail all’utente.</a:t>
            </a:r>
          </a:p>
          <a:p>
            <a:pPr marL="0">
              <a:buNone/>
            </a:pPr>
            <a:r>
              <a:rPr lang="it-IT" dirty="0">
                <a:latin typeface="Aptos" panose="020B0004020202020204" pitchFamily="34" charset="0"/>
              </a:rPr>
              <a:t>- Il server verifica la validità del token e, in caso di successo, l’utente verrà reindirizzato alla pagina di benvenuto.</a:t>
            </a:r>
          </a:p>
        </p:txBody>
      </p:sp>
    </p:spTree>
    <p:extLst>
      <p:ext uri="{BB962C8B-B14F-4D97-AF65-F5344CB8AC3E}">
        <p14:creationId xmlns:p14="http://schemas.microsoft.com/office/powerpoint/2010/main" val="1718596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CC01F6F0-3B5E-C49A-B5D8-F2E15A776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59" y="1922185"/>
            <a:ext cx="4024407" cy="2765198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CFEC8E96-CEE5-F6B5-0C78-86277ACA5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507" y="1922185"/>
            <a:ext cx="5605811" cy="276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564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32D28E-EC42-DA91-08F0-E28430E23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FIDO2 - Registrazione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6384A7-78F1-0C7A-91D2-E8AC0C8F8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 lvl="0"/>
            <a:r>
              <a:rPr lang="it-IT" dirty="0">
                <a:latin typeface="Aptos" panose="020B0004020202020204" pitchFamily="34" charset="0"/>
              </a:rPr>
              <a:t>Prima di avviare la procedura di registrazione è stato introdotto un controllo dell’autenticità dell’utente tramite un codice OTP inviato via mail all’utente, il quale deve dimostrare di essere l’effettivo possessore della e-mail indicata.</a:t>
            </a:r>
          </a:p>
          <a:p>
            <a:pPr lvl="0"/>
            <a:r>
              <a:rPr lang="it-IT" dirty="0">
                <a:latin typeface="Aptos" panose="020B0004020202020204" pitchFamily="34" charset="0"/>
              </a:rPr>
              <a:t>Il codice OTP ha una validità di 5 minuti e l’utente ha al massimo tre tentativi per inserirlo.</a:t>
            </a:r>
          </a:p>
          <a:p>
            <a:pPr lvl="0"/>
            <a:r>
              <a:rPr lang="it-IT" dirty="0">
                <a:latin typeface="Aptos" panose="020B0004020202020204" pitchFamily="34" charset="0"/>
              </a:rPr>
              <a:t>Una volta inserito il codice OTP corretto, viene avviata la vera fase di registrazione dell’utente.</a:t>
            </a:r>
          </a:p>
          <a:p>
            <a:r>
              <a:rPr lang="it-IT" dirty="0">
                <a:latin typeface="Aptos" panose="020B0004020202020204" pitchFamily="34" charset="0"/>
              </a:rPr>
              <a:t>Nella fase di registrazione, l’utente crea una coppia di chiavi crittografiche (privata e pubblica) tramite un dispositivo autenticatore. La chiave privata rimane sul dispositivo dell’utente, mentre la chiave pubblica viene inviata al server, che la memorizza in un database per future verifiche durante l’autenticazione.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98555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149F9B72-8108-6E7E-CC69-97B166B6B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892" y="255917"/>
            <a:ext cx="3436164" cy="276611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31F6653-D76F-9379-FE58-B97D48505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874" y="3780847"/>
            <a:ext cx="5291666" cy="194468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41BBEFE9-A642-30B6-D480-29E42AD9C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3536" y="3250871"/>
            <a:ext cx="3622876" cy="3004638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B730D8A8-82F6-2D29-8232-AC5C810A76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6425" y="255917"/>
            <a:ext cx="3528564" cy="2766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847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32B3F6-2FE0-E747-1186-D30927F25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FIDO2 - Autenticazione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70259BF-622D-67BC-2742-DA0F070AC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286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dirty="0">
                <a:latin typeface="Aptos" panose="020B0004020202020204" pitchFamily="34" charset="0"/>
              </a:rPr>
              <a:t>- Il client richiede di accedere inserendo la propria e-mail</a:t>
            </a:r>
          </a:p>
          <a:p>
            <a:pPr marL="0" lvl="0" indent="0">
              <a:buNone/>
            </a:pPr>
            <a:r>
              <a:rPr lang="it-IT" dirty="0">
                <a:latin typeface="Aptos" panose="020B0004020202020204" pitchFamily="34" charset="0"/>
              </a:rPr>
              <a:t>- Il server: </a:t>
            </a:r>
          </a:p>
          <a:p>
            <a:pPr lvl="1"/>
            <a:r>
              <a:rPr lang="it-IT" sz="2000" dirty="0">
                <a:latin typeface="Aptos" panose="020B0004020202020204" pitchFamily="34" charset="0"/>
              </a:rPr>
              <a:t>Genera una challenge tramite un PRNG sicuro.</a:t>
            </a:r>
          </a:p>
          <a:p>
            <a:pPr lvl="1"/>
            <a:r>
              <a:rPr lang="it-IT" sz="2000" dirty="0">
                <a:latin typeface="Aptos" panose="020B0004020202020204" pitchFamily="34" charset="0"/>
              </a:rPr>
              <a:t>Recupera le credenziali registrate associate alla e-mail dell’utente.</a:t>
            </a:r>
          </a:p>
          <a:p>
            <a:pPr lvl="1"/>
            <a:r>
              <a:rPr lang="it-IT" sz="2000" dirty="0">
                <a:latin typeface="Aptos" panose="020B0004020202020204" pitchFamily="34" charset="0"/>
              </a:rPr>
              <a:t>Costruisce un oggetto PublicKeyCredentialRequestOptions, contenente vari parametri necessari per l’autenticazione.</a:t>
            </a:r>
          </a:p>
          <a:p>
            <a:pPr lvl="1"/>
            <a:r>
              <a:rPr lang="it-IT" sz="2000" dirty="0">
                <a:latin typeface="Aptos" panose="020B0004020202020204" pitchFamily="34" charset="0"/>
              </a:rPr>
              <a:t>Invia l’oggetto al client.</a:t>
            </a:r>
          </a:p>
          <a:p>
            <a:pPr marL="0">
              <a:buNone/>
            </a:pPr>
            <a:r>
              <a:rPr lang="it-IT" dirty="0">
                <a:latin typeface="Aptos" panose="020B0004020202020204" pitchFamily="34" charset="0"/>
              </a:rPr>
              <a:t>- Il client invia al server la challenge firmata con la chiave privata associata all’ID di una delle credenziali registrate nel server.</a:t>
            </a:r>
          </a:p>
          <a:p>
            <a:pPr marL="0" lvl="0" indent="0">
              <a:buNone/>
            </a:pPr>
            <a:r>
              <a:rPr lang="it-IT" dirty="0">
                <a:latin typeface="Aptos" panose="020B0004020202020204" pitchFamily="34" charset="0"/>
              </a:rPr>
              <a:t>- Il server controlla la validità della response e verifica la firma tramite la chiave pubblica associata all’ID della credenziale scelta dall’autenticatore del client. </a:t>
            </a:r>
          </a:p>
          <a:p>
            <a:pPr marL="0" lvl="0" indent="0">
              <a:buNone/>
            </a:pPr>
            <a:r>
              <a:rPr lang="it-IT" dirty="0">
                <a:latin typeface="Aptos" panose="020B0004020202020204" pitchFamily="34" charset="0"/>
              </a:rPr>
              <a:t>- Se la verifica ha successo, l’utente viene reindirizzato alla pagina di benvenuto.</a:t>
            </a:r>
          </a:p>
        </p:txBody>
      </p:sp>
    </p:spTree>
    <p:extLst>
      <p:ext uri="{BB962C8B-B14F-4D97-AF65-F5344CB8AC3E}">
        <p14:creationId xmlns:p14="http://schemas.microsoft.com/office/powerpoint/2010/main" val="891630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EB9E6E61-0B2C-6BA8-695D-0B1E91AB3F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3573" y="436478"/>
            <a:ext cx="4464615" cy="3404269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8BF564C2-7451-73B1-ABB9-4FA3BA927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871" y="436479"/>
            <a:ext cx="4240639" cy="3409291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2B17D3DC-3997-57F4-05A3-BF5CB7E0F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0559" y="4167967"/>
            <a:ext cx="4595258" cy="192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65444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ttivo">
  <a:themeElements>
    <a:clrScheme name="Retrospettivo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ttiv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ttiv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359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1" baseType="lpstr">
      <vt:lpstr>Aptos</vt:lpstr>
      <vt:lpstr>Calibri</vt:lpstr>
      <vt:lpstr>Calibri Light</vt:lpstr>
      <vt:lpstr>Retrospettivo</vt:lpstr>
      <vt:lpstr>Login Passwordless</vt:lpstr>
      <vt:lpstr>Magic Link</vt:lpstr>
      <vt:lpstr>Presentazione standard di PowerPoint</vt:lpstr>
      <vt:lpstr>FIDO2 - Registrazione</vt:lpstr>
      <vt:lpstr>Presentazione standard di PowerPoint</vt:lpstr>
      <vt:lpstr>FIDO2 - Autenticazione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Andriy Hrynda - andriy.hrynda@studio.unibo.it</dc:creator>
  <cp:lastModifiedBy>Andriy Hrynda - andriy.hrynda@studio.unibo.it</cp:lastModifiedBy>
  <cp:revision>3</cp:revision>
  <dcterms:created xsi:type="dcterms:W3CDTF">2025-07-13T13:04:49Z</dcterms:created>
  <dcterms:modified xsi:type="dcterms:W3CDTF">2025-07-13T14:13:37Z</dcterms:modified>
</cp:coreProperties>
</file>